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29" r:id="rId8"/>
    <p:sldId id="302" r:id="rId9"/>
    <p:sldId id="339" r:id="rId10"/>
    <p:sldId id="340" r:id="rId11"/>
    <p:sldId id="344" r:id="rId12"/>
    <p:sldId id="346" r:id="rId13"/>
    <p:sldId id="345" r:id="rId14"/>
    <p:sldId id="348" r:id="rId15"/>
    <p:sldId id="349" r:id="rId16"/>
    <p:sldId id="350" r:id="rId17"/>
    <p:sldId id="351" r:id="rId18"/>
    <p:sldId id="352" r:id="rId19"/>
    <p:sldId id="353"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7" d="100"/>
          <a:sy n="47" d="100"/>
        </p:scale>
        <p:origin x="53" y="89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Sibham/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783106"/>
            <a:ext cx="5115243" cy="793363"/>
          </a:xfrm>
        </p:spPr>
        <p:txBody>
          <a:bodyPr vert="horz" lIns="91440" tIns="45720" rIns="91440" bIns="45720" rtlCol="0" anchor="t">
            <a:normAutofit lnSpcReduction="10000"/>
          </a:bodyPr>
          <a:lstStyle/>
          <a:p>
            <a:r>
              <a:rPr lang="en-US" b="0" dirty="0">
                <a:solidFill>
                  <a:schemeClr val="tx1"/>
                </a:solidFill>
              </a:rPr>
              <a:t>Student Name – Sibham Maity </a:t>
            </a:r>
            <a:endParaRPr lang="en-IN" b="0" dirty="0">
              <a:solidFill>
                <a:schemeClr val="tx1"/>
              </a:solidFill>
            </a:endParaRPr>
          </a:p>
          <a:p>
            <a:r>
              <a:rPr lang="en-US" b="0" dirty="0">
                <a:solidFill>
                  <a:schemeClr val="tx1"/>
                </a:solidFill>
              </a:rPr>
              <a:t>College Name- </a:t>
            </a:r>
            <a:r>
              <a:rPr lang="en-US" b="0" dirty="0" err="1">
                <a:solidFill>
                  <a:schemeClr val="tx1"/>
                </a:solidFill>
              </a:rPr>
              <a:t>Jecrc</a:t>
            </a:r>
            <a:r>
              <a:rPr lang="en-US" b="0" dirty="0">
                <a:solidFill>
                  <a:schemeClr val="tx1"/>
                </a:solidFill>
              </a:rPr>
              <a:t>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6771307" cy="355650"/>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76469"/>
            <a:ext cx="5841383" cy="369332"/>
          </a:xfrm>
          <a:prstGeom prst="rect">
            <a:avLst/>
          </a:prstGeom>
          <a:noFill/>
        </p:spPr>
        <p:txBody>
          <a:bodyPr wrap="square" rtlCol="0">
            <a:spAutoFit/>
          </a:bodyPr>
          <a:lstStyle/>
          <a:p>
            <a:r>
              <a:rPr lang="en-US" b="1" dirty="0"/>
              <a:t>AICTE STU ID : </a:t>
            </a:r>
            <a:r>
              <a:rPr lang="en-IN" b="1" dirty="0"/>
              <a:t>STU6a27e1c3417531780998595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BFF1C70C-BE15-44ED-AD82-DCB3489EC122}"/>
              </a:ext>
            </a:extLst>
          </p:cNvPr>
          <p:cNvSpPr txBox="1"/>
          <p:nvPr/>
        </p:nvSpPr>
        <p:spPr>
          <a:xfrm>
            <a:off x="832757" y="1636210"/>
            <a:ext cx="8278586" cy="4247317"/>
          </a:xfrm>
          <a:prstGeom prst="rect">
            <a:avLst/>
          </a:prstGeom>
          <a:noFill/>
        </p:spPr>
        <p:txBody>
          <a:bodyPr wrap="square" rtlCol="0">
            <a:spAutoFit/>
          </a:bodyPr>
          <a:lstStyle/>
          <a:p>
            <a:r>
              <a:rPr lang="en-US" dirty="0"/>
              <a:t>This project presents a data-driven analysis of agricultural performance across different seasons (Kharif, Rabi, and Zaid) using a comprehensive dataset of 4,000 farming records. Agricultural outcomes are heavily influenced by seasonal variations in environmental conditions, resource availability, and farming practices. The primary objective is to process and analyze this raw data to uncover meaningful patterns, trends, and relationships regarding crop yield, resource usage (such as water and fertilizers), and overall economic profitability.</a:t>
            </a:r>
          </a:p>
          <a:p>
            <a:endParaRPr lang="en-US" dirty="0"/>
          </a:p>
          <a:p>
            <a:r>
              <a:rPr lang="en-US" dirty="0"/>
              <a:t>By utilizing Python-based data analytics and visualization techniques, this study highlights critical seasonal contrasts—such as the economic viability of the Kharif season compared to the high resource strain of the Zaid season. Ultimately, the insights derived from this analysis aim to support evidence-based agricultural planning, helping stakeholders optimize resource allocation and improve seasonal farming strategies.</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9" name="Rectangle 4">
            <a:extLst>
              <a:ext uri="{FF2B5EF4-FFF2-40B4-BE49-F238E27FC236}">
                <a16:creationId xmlns:a16="http://schemas.microsoft.com/office/drawing/2014/main" id="{A9702372-80E2-437C-A5C9-AD1E7C7BEE79}"/>
              </a:ext>
            </a:extLst>
          </p:cNvPr>
          <p:cNvSpPr>
            <a:spLocks noGrp="1" noChangeArrowheads="1"/>
          </p:cNvSpPr>
          <p:nvPr>
            <p:ph type="body" sz="quarter" idx="12"/>
          </p:nvPr>
        </p:nvSpPr>
        <p:spPr bwMode="auto">
          <a:xfrm>
            <a:off x="720725" y="1990725"/>
            <a:ext cx="790575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1F1F1F"/>
                </a:solidFill>
                <a:effectLst/>
                <a:latin typeface="Google Sans Text"/>
              </a:rPr>
              <a:t>Farmers &amp; Agricultural Producers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1F1F1F"/>
                </a:solidFill>
                <a:effectLst/>
                <a:latin typeface="Google Sans Text"/>
              </a:rPr>
            </a:br>
            <a:endParaRPr kumimoji="0" lang="en-US" altLang="en-US" sz="1800" b="0" i="0" u="none" strike="noStrike" cap="none" normalizeH="0" baseline="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1F1F1F"/>
                </a:solidFill>
                <a:effectLst/>
                <a:latin typeface="Google Sans Text"/>
              </a:rPr>
              <a:t>Agricultural Planners &amp; Policymakers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1F1F1F"/>
                </a:solidFill>
                <a:effectLst/>
                <a:latin typeface="Google Sans Text"/>
              </a:rPr>
            </a:br>
            <a:endParaRPr kumimoji="0" lang="en-US" altLang="en-US" sz="1800" b="0" i="0" u="none" strike="noStrike" cap="none" normalizeH="0" baseline="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1F1F1F"/>
                </a:solidFill>
                <a:effectLst/>
                <a:latin typeface="Google Sans Text"/>
              </a:rPr>
              <a:t>Agricultural Economists &amp; Researchers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1F1F1F"/>
                </a:solidFill>
                <a:effectLst/>
                <a:latin typeface="Google Sans Text"/>
              </a:rPr>
            </a:br>
            <a:endParaRPr kumimoji="0" lang="en-US" altLang="en-US" sz="1800" b="0" i="0" u="none" strike="noStrike" cap="none" normalizeH="0" baseline="0">
              <a:ln>
                <a:noFill/>
              </a:ln>
              <a:solidFill>
                <a:srgbClr val="1F1F1F"/>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rgbClr val="1F1F1F"/>
                </a:solidFill>
                <a:effectLst/>
                <a:latin typeface="Google Sans Text"/>
              </a:rPr>
              <a:t>Agri-Tech Companies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a:t>
            </a:r>
          </a:p>
          <a:p>
            <a:pPr lvl="1">
              <a:lnSpc>
                <a:spcPct val="150000"/>
              </a:lnSpc>
            </a:pPr>
            <a:r>
              <a:rPr lang="en-US" dirty="0"/>
              <a:t>PANDAS</a:t>
            </a:r>
          </a:p>
          <a:p>
            <a:pPr lvl="1">
              <a:lnSpc>
                <a:spcPct val="150000"/>
              </a:lnSpc>
            </a:pPr>
            <a:r>
              <a:rPr lang="en-US" dirty="0"/>
              <a:t>NUMPY</a:t>
            </a:r>
          </a:p>
          <a:p>
            <a:pPr lvl="1">
              <a:lnSpc>
                <a:spcPct val="150000"/>
              </a:lnSpc>
            </a:pPr>
            <a:r>
              <a:rPr lang="en-US" dirty="0"/>
              <a:t>MATPLOTLIB</a:t>
            </a:r>
          </a:p>
          <a:p>
            <a:pPr lvl="1">
              <a:lnSpc>
                <a:spcPct val="150000"/>
              </a:lnSpc>
            </a:pPr>
            <a:r>
              <a:rPr lang="en-US" dirty="0"/>
              <a:t>SEABORN</a:t>
            </a:r>
          </a:p>
          <a:p>
            <a:pPr lvl="1">
              <a:lnSpc>
                <a:spcPct val="150000"/>
              </a:lnSpc>
            </a:pPr>
            <a:r>
              <a:rPr lang="en-US" dirty="0"/>
              <a:t>JUPYTER NOTEBOOK</a:t>
            </a:r>
          </a:p>
          <a:p>
            <a:pPr lvl="1">
              <a:lnSpc>
                <a:spcPct val="150000"/>
              </a:lnSpc>
            </a:pPr>
            <a:r>
              <a:rPr lang="en-US" dirty="0"/>
              <a:t>GIT AND GITHUB</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C43F47F-13E9-4629-8C0F-9DC4F96C5285}"/>
              </a:ext>
            </a:extLst>
          </p:cNvPr>
          <p:cNvPicPr>
            <a:picLocks noChangeAspect="1"/>
          </p:cNvPicPr>
          <p:nvPr/>
        </p:nvPicPr>
        <p:blipFill>
          <a:blip r:embed="rId3"/>
          <a:stretch>
            <a:fillRect/>
          </a:stretch>
        </p:blipFill>
        <p:spPr>
          <a:xfrm>
            <a:off x="467832" y="1275371"/>
            <a:ext cx="5867908" cy="458763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B9B1DBD9-EAB4-48C9-881A-39064F29CF45}"/>
              </a:ext>
            </a:extLst>
          </p:cNvPr>
          <p:cNvSpPr>
            <a:spLocks noGrp="1"/>
          </p:cNvSpPr>
          <p:nvPr>
            <p:ph type="body" sz="quarter" idx="12"/>
          </p:nvPr>
        </p:nvSpPr>
        <p:spPr/>
        <p:txBody>
          <a:bodyPr/>
          <a:lstStyle/>
          <a:p>
            <a:endParaRPr lang="en-IN"/>
          </a:p>
        </p:txBody>
      </p:sp>
      <p:pic>
        <p:nvPicPr>
          <p:cNvPr id="6" name="Picture 5">
            <a:extLst>
              <a:ext uri="{FF2B5EF4-FFF2-40B4-BE49-F238E27FC236}">
                <a16:creationId xmlns:a16="http://schemas.microsoft.com/office/drawing/2014/main" id="{EF53BE27-44AC-4626-9A52-9BF3537BA88A}"/>
              </a:ext>
            </a:extLst>
          </p:cNvPr>
          <p:cNvPicPr>
            <a:picLocks noChangeAspect="1"/>
          </p:cNvPicPr>
          <p:nvPr/>
        </p:nvPicPr>
        <p:blipFill>
          <a:blip r:embed="rId3"/>
          <a:stretch>
            <a:fillRect/>
          </a:stretch>
        </p:blipFill>
        <p:spPr>
          <a:xfrm>
            <a:off x="660400" y="1275371"/>
            <a:ext cx="5875529" cy="434377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B9E72204-AB8B-4A2E-8EEC-1329843BD0A3}"/>
              </a:ext>
            </a:extLst>
          </p:cNvPr>
          <p:cNvPicPr>
            <a:picLocks noChangeAspect="1"/>
          </p:cNvPicPr>
          <p:nvPr/>
        </p:nvPicPr>
        <p:blipFill>
          <a:blip r:embed="rId3"/>
          <a:stretch>
            <a:fillRect/>
          </a:stretch>
        </p:blipFill>
        <p:spPr>
          <a:xfrm>
            <a:off x="598430" y="1070959"/>
            <a:ext cx="5524979" cy="2864228"/>
          </a:xfrm>
          <a:prstGeom prst="rect">
            <a:avLst/>
          </a:prstGeom>
        </p:spPr>
      </p:pic>
      <p:pic>
        <p:nvPicPr>
          <p:cNvPr id="3" name="Picture 2">
            <a:extLst>
              <a:ext uri="{FF2B5EF4-FFF2-40B4-BE49-F238E27FC236}">
                <a16:creationId xmlns:a16="http://schemas.microsoft.com/office/drawing/2014/main" id="{19ED6B10-17F7-42CD-98E3-EB496DFDE3E2}"/>
              </a:ext>
            </a:extLst>
          </p:cNvPr>
          <p:cNvPicPr>
            <a:picLocks noChangeAspect="1"/>
          </p:cNvPicPr>
          <p:nvPr/>
        </p:nvPicPr>
        <p:blipFill>
          <a:blip r:embed="rId4"/>
          <a:stretch>
            <a:fillRect/>
          </a:stretch>
        </p:blipFill>
        <p:spPr>
          <a:xfrm>
            <a:off x="598430" y="4145095"/>
            <a:ext cx="5906012" cy="232682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7EFF6FDD-6725-43D8-963C-43B2323743C0}"/>
              </a:ext>
            </a:extLst>
          </p:cNvPr>
          <p:cNvPicPr>
            <a:picLocks noChangeAspect="1"/>
          </p:cNvPicPr>
          <p:nvPr/>
        </p:nvPicPr>
        <p:blipFill>
          <a:blip r:embed="rId3"/>
          <a:stretch>
            <a:fillRect/>
          </a:stretch>
        </p:blipFill>
        <p:spPr>
          <a:xfrm>
            <a:off x="320982" y="1343589"/>
            <a:ext cx="10142121" cy="401508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BCBAF43-7F34-4FF5-A8DD-92B3A8BACE9D}"/>
              </a:ext>
            </a:extLst>
          </p:cNvPr>
          <p:cNvPicPr>
            <a:picLocks noChangeAspect="1"/>
          </p:cNvPicPr>
          <p:nvPr/>
        </p:nvPicPr>
        <p:blipFill>
          <a:blip r:embed="rId3"/>
          <a:stretch>
            <a:fillRect/>
          </a:stretch>
        </p:blipFill>
        <p:spPr>
          <a:xfrm>
            <a:off x="675957" y="1489158"/>
            <a:ext cx="9297206" cy="454953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AD910BA-F42A-428F-BFE0-BBC6AC62012D}"/>
              </a:ext>
            </a:extLst>
          </p:cNvPr>
          <p:cNvPicPr>
            <a:picLocks noChangeAspect="1"/>
          </p:cNvPicPr>
          <p:nvPr/>
        </p:nvPicPr>
        <p:blipFill>
          <a:blip r:embed="rId3"/>
          <a:stretch>
            <a:fillRect/>
          </a:stretch>
        </p:blipFill>
        <p:spPr>
          <a:xfrm>
            <a:off x="675957" y="1275371"/>
            <a:ext cx="9198137" cy="3871295"/>
          </a:xfrm>
          <a:prstGeom prst="rect">
            <a:avLst/>
          </a:prstGeom>
        </p:spPr>
      </p:pic>
    </p:spTree>
    <p:extLst>
      <p:ext uri="{BB962C8B-B14F-4D97-AF65-F5344CB8AC3E}">
        <p14:creationId xmlns:p14="http://schemas.microsoft.com/office/powerpoint/2010/main" val="89532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BCBAF43-7F34-4FF5-A8DD-92B3A8BACE9D}"/>
              </a:ext>
            </a:extLst>
          </p:cNvPr>
          <p:cNvPicPr>
            <a:picLocks noChangeAspect="1"/>
          </p:cNvPicPr>
          <p:nvPr/>
        </p:nvPicPr>
        <p:blipFill>
          <a:blip r:embed="rId3"/>
          <a:stretch>
            <a:fillRect/>
          </a:stretch>
        </p:blipFill>
        <p:spPr>
          <a:xfrm>
            <a:off x="675957" y="1489158"/>
            <a:ext cx="9297206" cy="4549534"/>
          </a:xfrm>
          <a:prstGeom prst="rect">
            <a:avLst/>
          </a:prstGeom>
        </p:spPr>
      </p:pic>
    </p:spTree>
    <p:extLst>
      <p:ext uri="{BB962C8B-B14F-4D97-AF65-F5344CB8AC3E}">
        <p14:creationId xmlns:p14="http://schemas.microsoft.com/office/powerpoint/2010/main" val="240244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8778813-6505-469D-8F6E-F01ACFF45CB4}"/>
              </a:ext>
            </a:extLst>
          </p:cNvPr>
          <p:cNvPicPr>
            <a:picLocks noChangeAspect="1"/>
          </p:cNvPicPr>
          <p:nvPr/>
        </p:nvPicPr>
        <p:blipFill>
          <a:blip r:embed="rId3"/>
          <a:stretch>
            <a:fillRect/>
          </a:stretch>
        </p:blipFill>
        <p:spPr>
          <a:xfrm>
            <a:off x="675957" y="1084815"/>
            <a:ext cx="8297718" cy="5470400"/>
          </a:xfrm>
          <a:prstGeom prst="rect">
            <a:avLst/>
          </a:prstGeom>
        </p:spPr>
      </p:pic>
    </p:spTree>
    <p:extLst>
      <p:ext uri="{BB962C8B-B14F-4D97-AF65-F5344CB8AC3E}">
        <p14:creationId xmlns:p14="http://schemas.microsoft.com/office/powerpoint/2010/main" val="347933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9AD88DC-5B05-4F2A-92CF-30E378FD77E7}"/>
              </a:ext>
            </a:extLst>
          </p:cNvPr>
          <p:cNvPicPr>
            <a:picLocks noChangeAspect="1"/>
          </p:cNvPicPr>
          <p:nvPr/>
        </p:nvPicPr>
        <p:blipFill>
          <a:blip r:embed="rId3"/>
          <a:stretch>
            <a:fillRect/>
          </a:stretch>
        </p:blipFill>
        <p:spPr>
          <a:xfrm>
            <a:off x="675957" y="1193728"/>
            <a:ext cx="8519898" cy="5044877"/>
          </a:xfrm>
          <a:prstGeom prst="rect">
            <a:avLst/>
          </a:prstGeom>
        </p:spPr>
      </p:pic>
    </p:spTree>
    <p:extLst>
      <p:ext uri="{BB962C8B-B14F-4D97-AF65-F5344CB8AC3E}">
        <p14:creationId xmlns:p14="http://schemas.microsoft.com/office/powerpoint/2010/main" val="155707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4B4D074-99B6-4E21-9CB5-10D0B00333A8}"/>
              </a:ext>
            </a:extLst>
          </p:cNvPr>
          <p:cNvPicPr>
            <a:picLocks noChangeAspect="1"/>
          </p:cNvPicPr>
          <p:nvPr/>
        </p:nvPicPr>
        <p:blipFill>
          <a:blip r:embed="rId3"/>
          <a:stretch>
            <a:fillRect/>
          </a:stretch>
        </p:blipFill>
        <p:spPr>
          <a:xfrm>
            <a:off x="675957" y="1542886"/>
            <a:ext cx="8215072" cy="3772227"/>
          </a:xfrm>
          <a:prstGeom prst="rect">
            <a:avLst/>
          </a:prstGeom>
        </p:spPr>
      </p:pic>
    </p:spTree>
    <p:extLst>
      <p:ext uri="{BB962C8B-B14F-4D97-AF65-F5344CB8AC3E}">
        <p14:creationId xmlns:p14="http://schemas.microsoft.com/office/powerpoint/2010/main" val="339610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8069980-DCDE-41F9-B9CD-96D5A56A4A6A}"/>
              </a:ext>
            </a:extLst>
          </p:cNvPr>
          <p:cNvPicPr>
            <a:picLocks noChangeAspect="1"/>
          </p:cNvPicPr>
          <p:nvPr/>
        </p:nvPicPr>
        <p:blipFill>
          <a:blip r:embed="rId3"/>
          <a:stretch>
            <a:fillRect/>
          </a:stretch>
        </p:blipFill>
        <p:spPr>
          <a:xfrm>
            <a:off x="320982" y="1366373"/>
            <a:ext cx="9730323" cy="3550180"/>
          </a:xfrm>
          <a:prstGeom prst="rect">
            <a:avLst/>
          </a:prstGeom>
        </p:spPr>
      </p:pic>
    </p:spTree>
    <p:extLst>
      <p:ext uri="{BB962C8B-B14F-4D97-AF65-F5344CB8AC3E}">
        <p14:creationId xmlns:p14="http://schemas.microsoft.com/office/powerpoint/2010/main" val="214866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F3B33B1-F789-4673-92F5-4E4C94C0E0F9}"/>
              </a:ext>
            </a:extLst>
          </p:cNvPr>
          <p:cNvSpPr txBox="1"/>
          <p:nvPr/>
        </p:nvSpPr>
        <p:spPr>
          <a:xfrm>
            <a:off x="849086" y="1275371"/>
            <a:ext cx="7543800" cy="3139321"/>
          </a:xfrm>
          <a:prstGeom prst="rect">
            <a:avLst/>
          </a:prstGeom>
          <a:noFill/>
        </p:spPr>
        <p:txBody>
          <a:bodyPr wrap="square" rtlCol="0">
            <a:spAutoFit/>
          </a:bodyPr>
          <a:lstStyle/>
          <a:p>
            <a:r>
              <a:rPr lang="en-US" dirty="0"/>
              <a:t>*Predictive Machine Learning </a:t>
            </a:r>
            <a:r>
              <a:rPr lang="en-US" dirty="0" err="1"/>
              <a:t>Models:Developing</a:t>
            </a:r>
            <a:r>
              <a:rPr lang="en-US" dirty="0"/>
              <a:t> algorithms to forecast crop yields and market prices based on seasonal weather patterns and soil data.</a:t>
            </a:r>
          </a:p>
          <a:p>
            <a:r>
              <a:rPr lang="en-US" dirty="0"/>
              <a:t>* Real-Time Interactive Dashboards: Integrating the analysis into Power BI or Tableau for dynamic, real-time agricultural monitoring.</a:t>
            </a:r>
          </a:p>
          <a:p>
            <a:r>
              <a:rPr lang="en-US" dirty="0"/>
              <a:t>* Crop &amp; Resource Recommender System: Creating an AI-driven tool to suggest the most profitable crops and optimal fertilizer/water usage for specific seasons and regions.</a:t>
            </a:r>
          </a:p>
          <a:p>
            <a:r>
              <a:rPr lang="en-US" dirty="0"/>
              <a:t>* Climate Change Impact Analysis: Expanding the dataset to analyze long-term climate shifts and their extended impact on seasonal farming viability.</a:t>
            </a: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IN" dirty="0">
                <a:hlinkClick r:id="rId3"/>
              </a:rPr>
              <a:t>Sibham/Seasonal-Agriculture-Performance-Analysis</a:t>
            </a:r>
            <a:endParaRPr lang="en-IN" dirty="0"/>
          </a:p>
        </p:txBody>
      </p:sp>
      <p:sp>
        <p:nvSpPr>
          <p:cNvPr id="2" name="TextBox 1">
            <a:extLst>
              <a:ext uri="{FF2B5EF4-FFF2-40B4-BE49-F238E27FC236}">
                <a16:creationId xmlns:a16="http://schemas.microsoft.com/office/drawing/2014/main" id="{024E70B9-4AF7-4A18-BDBE-D526E4989AF2}"/>
              </a:ext>
            </a:extLst>
          </p:cNvPr>
          <p:cNvSpPr txBox="1"/>
          <p:nvPr/>
        </p:nvSpPr>
        <p:spPr>
          <a:xfrm>
            <a:off x="729256" y="2106398"/>
            <a:ext cx="6406330" cy="646331"/>
          </a:xfrm>
          <a:prstGeom prst="rect">
            <a:avLst/>
          </a:prstGeom>
          <a:noFill/>
        </p:spPr>
        <p:txBody>
          <a:bodyPr wrap="square" rtlCol="0">
            <a:spAutoFit/>
          </a:bodyPr>
          <a:lstStyle/>
          <a:p>
            <a:r>
              <a:rPr lang="en-IN"/>
              <a:t>https://github.com/Sibham/Seasonal-Agriculture-Performance-Analysis.git</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D4417C0-07CE-4E1D-A065-1516E8DDA1A7}"/>
              </a:ext>
            </a:extLst>
          </p:cNvPr>
          <p:cNvPicPr>
            <a:picLocks noChangeAspect="1"/>
          </p:cNvPicPr>
          <p:nvPr/>
        </p:nvPicPr>
        <p:blipFill>
          <a:blip r:embed="rId3"/>
          <a:stretch>
            <a:fillRect/>
          </a:stretch>
        </p:blipFill>
        <p:spPr>
          <a:xfrm>
            <a:off x="568351" y="1280160"/>
            <a:ext cx="7554686" cy="52882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terms/"/>
    <ds:schemaRef ds:uri="http://purl.org/dc/dcmitype/"/>
    <ds:schemaRef ds:uri="http://schemas.microsoft.com/office/2006/metadata/properties"/>
    <ds:schemaRef ds:uri="http://schemas.openxmlformats.org/package/2006/metadata/core-properties"/>
    <ds:schemaRef ds:uri="71af3243-3dd4-4a8d-8c0d-dd76da1f02a5"/>
    <ds:schemaRef ds:uri="http://www.w3.org/XML/1998/namespace"/>
    <ds:schemaRef ds:uri="http://schemas.microsoft.com/office/infopath/2007/PartnerControls"/>
    <ds:schemaRef ds:uri="16c05727-aa75-4e4a-9b5f-8a80a1165891"/>
    <ds:schemaRef ds:uri="http://purl.org/dc/elements/1.1/"/>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1379</TotalTime>
  <Words>457</Words>
  <Application>Microsoft Office PowerPoint</Application>
  <PresentationFormat>Widescreen</PresentationFormat>
  <Paragraphs>53</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Google Sans Text</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Sibham Maity</cp:lastModifiedBy>
  <cp:revision>101</cp:revision>
  <dcterms:created xsi:type="dcterms:W3CDTF">2021-07-11T13:13:15Z</dcterms:created>
  <dcterms:modified xsi:type="dcterms:W3CDTF">2026-09-25T18:46:07Z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